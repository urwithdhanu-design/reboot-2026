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D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EE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011680"/>
            <a:ext cx="6626429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lang="en-IN" dirty="0"/>
              <a:t>Insurer360 </a:t>
            </a:r>
            <a:r>
              <a:rPr dirty="0"/>
              <a:t>Insurance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52044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C8E6D7"/>
                </a:solidFill>
              </a:defRPr>
            </a:pPr>
            <a:r>
              <a:t>End-to-end digital insurance · KYC · Wallet · Canton minting · Claims · Parametric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35F"/>
                </a:solidFill>
              </a:defRPr>
            </a:pPr>
            <a:r>
              <a:t>Canton Network · Daml ledger · insure360-83a36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4D38"/>
                </a:solidFill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A1F1C"/>
                </a:solidFill>
              </a:defRPr>
            </a:pPr>
            <a:r>
              <a:t>Platform vision &amp; architecture</a:t>
            </a:r>
          </a:p>
          <a:p>
            <a:pPr>
              <a:spcAft>
                <a:spcPts val="600"/>
              </a:spcAft>
              <a:defRPr sz="1500">
                <a:solidFill>
                  <a:srgbClr val="1A1F1C"/>
                </a:solidFill>
              </a:defRPr>
            </a:pPr>
            <a:r>
              <a:t>Customer journey: KYC → Wallet → Policy → Mint</a:t>
            </a:r>
          </a:p>
          <a:p>
            <a:pPr>
              <a:spcAft>
                <a:spcPts val="600"/>
              </a:spcAft>
              <a:defRPr sz="1500">
                <a:solidFill>
                  <a:srgbClr val="1A1F1C"/>
                </a:solidFill>
              </a:defRPr>
            </a:pPr>
            <a:r>
              <a:t>Claims: manual review &amp; parametric automation</a:t>
            </a:r>
          </a:p>
          <a:p>
            <a:pPr>
              <a:spcAft>
                <a:spcPts val="600"/>
              </a:spcAft>
              <a:defRPr sz="1500">
                <a:solidFill>
                  <a:srgbClr val="1A1F1C"/>
                </a:solidFill>
              </a:defRPr>
            </a:pPr>
            <a:r>
              <a:t>GBP fund flows: premium, vendor reserve, claims pool</a:t>
            </a:r>
          </a:p>
          <a:p>
            <a:pPr>
              <a:spcAft>
                <a:spcPts val="600"/>
              </a:spcAft>
              <a:defRPr sz="1500">
                <a:solidFill>
                  <a:srgbClr val="1A1F1C"/>
                </a:solidFill>
              </a:defRPr>
            </a:pPr>
            <a:r>
              <a:t>AI, blockchain &amp; Canton integration</a:t>
            </a:r>
          </a:p>
          <a:p>
            <a:pPr>
              <a:spcAft>
                <a:spcPts val="600"/>
              </a:spcAft>
              <a:defRPr sz="1500">
                <a:solidFill>
                  <a:srgbClr val="1A1F1C"/>
                </a:solidFill>
              </a:defRPr>
            </a:pPr>
            <a:r>
              <a:t>Vendor portal &amp; admin operations</a:t>
            </a:r>
          </a:p>
          <a:p>
            <a:pPr>
              <a:spcAft>
                <a:spcPts val="600"/>
              </a:spcAft>
              <a:defRPr sz="1500">
                <a:solidFill>
                  <a:srgbClr val="1A1F1C"/>
                </a:solidFill>
              </a:defRPr>
            </a:pPr>
            <a:r>
              <a:t>Cloud deployment &amp; demo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35F"/>
                </a:solidFill>
              </a:defRPr>
            </a:pPr>
            <a:r>
              <a:t>Reboot 2026 Insurance · Canton Platform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4D38"/>
                </a:solidFill>
              </a:defRPr>
            </a:pPr>
            <a:r>
              <a:t>Platform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A1F1C"/>
                </a:solidFill>
              </a:defRPr>
            </a:pPr>
            <a:r>
              <a:t>Reboot 2026 — digital insurance distribution on GCP with Canton as the ledger</a:t>
            </a:r>
          </a:p>
          <a:p>
            <a:pPr>
              <a:spcAft>
                <a:spcPts val="600"/>
              </a:spcAft>
              <a:defRPr sz="1500">
                <a:solidFill>
                  <a:srgbClr val="1A1F1C"/>
                </a:solidFill>
              </a:defRPr>
            </a:pPr>
            <a:r>
              <a:t>Customer web (React) + Admin console + 12+ Java/Python microservices</a:t>
            </a:r>
          </a:p>
          <a:p>
            <a:pPr>
              <a:spcAft>
                <a:spcPts val="600"/>
              </a:spcAft>
              <a:defRPr sz="1500">
                <a:solidFill>
                  <a:srgbClr val="1A1F1C"/>
                </a:solidFill>
              </a:defRPr>
            </a:pPr>
            <a:r>
              <a:t>GBP wallets (demo) + policy certificates minted on Canton via Daml templates</a:t>
            </a:r>
          </a:p>
          <a:p>
            <a:pPr>
              <a:spcAft>
                <a:spcPts val="600"/>
              </a:spcAft>
              <a:defRPr sz="1500">
                <a:solidFill>
                  <a:srgbClr val="1A1F1C"/>
                </a:solidFill>
              </a:defRPr>
            </a:pPr>
            <a:r>
              <a:t>Parametric claims (flight delay, telematics) with ≤£500 auto-settle</a:t>
            </a:r>
          </a:p>
          <a:p>
            <a:pPr>
              <a:spcAft>
                <a:spcPts val="600"/>
              </a:spcAft>
              <a:defRPr sz="1500">
                <a:solidFill>
                  <a:srgbClr val="1A1F1C"/>
                </a:solidFill>
              </a:defRPr>
            </a:pPr>
            <a:r>
              <a:t>Firebase Hosting (same-origin /api/*) → Cloud Run microservices</a:t>
            </a:r>
          </a:p>
          <a:p>
            <a:pPr>
              <a:spcAft>
                <a:spcPts val="600"/>
              </a:spcAft>
              <a:defRPr sz="1500">
                <a:solidFill>
                  <a:srgbClr val="1A1F1C"/>
                </a:solidFill>
              </a:defRPr>
            </a:pPr>
            <a:r>
              <a:t>Production GCP project: insure360-83a36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8064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D97706"/>
                </a:solidFill>
              </a:defRPr>
            </a:pPr>
            <a:r>
              <a:t>Insight: Wallet-service holds GBP; Canton ledger mirrors policies and settlements for audit.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35F"/>
                </a:solidFill>
              </a:defRPr>
            </a:pPr>
            <a:r>
              <a:t>Reboot 2026 Insurance · Canton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4D38"/>
                </a:solidFill>
              </a:defRPr>
            </a:pPr>
            <a:r>
              <a:t>Microservices map (local ports)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143000"/>
          <a:ext cx="1115568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8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18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Service</a:t>
                      </a:r>
                    </a:p>
                  </a:txBody>
                  <a:tcPr>
                    <a:solidFill>
                      <a:srgbClr val="006A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Port</a:t>
                      </a:r>
                    </a:p>
                  </a:txBody>
                  <a:tcPr>
                    <a:solidFill>
                      <a:srgbClr val="006A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Responsibility</a:t>
                      </a:r>
                    </a:p>
                  </a:txBody>
                  <a:tcPr>
                    <a:solidFill>
                      <a:srgbClr val="006A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F1C"/>
                          </a:solidFill>
                        </a:defRPr>
                      </a:pPr>
                      <a:r>
                        <a:t>KYC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F1C"/>
                          </a:solidFill>
                        </a:defRPr>
                      </a:pPr>
                      <a:r>
                        <a:t>8081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F1C"/>
                          </a:solidFill>
                        </a:defRPr>
                      </a:pPr>
                      <a:r>
                        <a:t>Auth, KYC, AI agent, assistant hints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F1C"/>
                          </a:solidFill>
                        </a:defRPr>
                      </a:pPr>
                      <a:r>
                        <a:t>Policy service</a:t>
                      </a:r>
                    </a:p>
                  </a:txBody>
                  <a:tcPr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F1C"/>
                          </a:solidFill>
                        </a:defRPr>
                      </a:pPr>
                      <a:r>
                        <a:t>8082</a:t>
                      </a:r>
                    </a:p>
                  </a:txBody>
                  <a:tcPr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F1C"/>
                          </a:solidFill>
                        </a:defRPr>
                      </a:pPr>
                      <a:r>
                        <a:t>Quotes, payments, policies, vendors</a:t>
                      </a:r>
                    </a:p>
                  </a:txBody>
                  <a:tcPr>
                    <a:solidFill>
                      <a:srgbClr val="E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F1C"/>
                          </a:solidFill>
                        </a:defRPr>
                      </a:pPr>
                      <a:r>
                        <a:t>Wallet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F1C"/>
                          </a:solidFill>
                        </a:defRPr>
                      </a:pPr>
                      <a:r>
                        <a:t>8089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F1C"/>
                          </a:solidFill>
                        </a:defRPr>
                      </a:pPr>
                      <a:r>
                        <a:t>Customer wallets, vendor reserve, claims pool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F1C"/>
                          </a:solidFill>
                        </a:defRPr>
                      </a:pPr>
                      <a:r>
                        <a:t>Claims service</a:t>
                      </a:r>
                    </a:p>
                  </a:txBody>
                  <a:tcPr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F1C"/>
                          </a:solidFill>
                        </a:defRPr>
                      </a:pPr>
                      <a:r>
                        <a:t>8085</a:t>
                      </a:r>
                    </a:p>
                  </a:txBody>
                  <a:tcPr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F1C"/>
                          </a:solidFill>
                        </a:defRPr>
                      </a:pPr>
                      <a:r>
                        <a:t>Claim workflow &amp; settlement</a:t>
                      </a:r>
                    </a:p>
                  </a:txBody>
                  <a:tcPr>
                    <a:solidFill>
                      <a:srgbClr val="E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F1C"/>
                          </a:solidFill>
                        </a:defRPr>
                      </a:pPr>
                      <a:r>
                        <a:t>Parametric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F1C"/>
                          </a:solidFill>
                        </a:defRPr>
                      </a:pPr>
                      <a:r>
                        <a:t>8086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F1C"/>
                          </a:solidFill>
                        </a:defRPr>
                      </a:pPr>
                      <a:r>
                        <a:t>Oracle rules, auto-triggers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F1C"/>
                          </a:solidFill>
                        </a:defRPr>
                      </a:pPr>
                      <a:r>
                        <a:t>Blockchain orchestrator</a:t>
                      </a:r>
                    </a:p>
                  </a:txBody>
                  <a:tcPr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F1C"/>
                          </a:solidFill>
                        </a:defRPr>
                      </a:pPr>
                      <a:r>
                        <a:t>8088</a:t>
                      </a:r>
                    </a:p>
                  </a:txBody>
                  <a:tcPr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F1C"/>
                          </a:solidFill>
                        </a:defRPr>
                      </a:pPr>
                      <a:r>
                        <a:t>Canton mint, ledger, claim settle</a:t>
                      </a:r>
                    </a:p>
                  </a:txBody>
                  <a:tcPr>
                    <a:solidFill>
                      <a:srgbClr val="E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F1C"/>
                          </a:solidFill>
                        </a:defRPr>
                      </a:pPr>
                      <a:r>
                        <a:t>Chatbot assistance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F1C"/>
                          </a:solidFill>
                        </a:defRPr>
                      </a:pPr>
                      <a:r>
                        <a:t>8090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F1C"/>
                          </a:solidFill>
                        </a:defRPr>
                      </a:pPr>
                      <a:r>
                        <a:t>Stallion RAG chatbot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F1C"/>
                          </a:solidFill>
                        </a:defRPr>
                      </a:pPr>
                      <a:r>
                        <a:t>Canton ledger</a:t>
                      </a:r>
                    </a:p>
                  </a:txBody>
                  <a:tcPr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F1C"/>
                          </a:solidFill>
                        </a:defRPr>
                      </a:pPr>
                      <a:r>
                        <a:t>internal</a:t>
                      </a:r>
                    </a:p>
                  </a:txBody>
                  <a:tcPr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F1C"/>
                          </a:solidFill>
                        </a:defRPr>
                      </a:pPr>
                      <a:r>
                        <a:t>Daml sandbox / JSON API for policy NFTs</a:t>
                      </a:r>
                    </a:p>
                  </a:txBody>
                  <a:tcPr>
                    <a:solidFill>
                      <a:srgbClr val="E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35F"/>
                </a:solidFill>
              </a:defRPr>
            </a:pPr>
            <a:r>
              <a:t>Reboot 2026 Insurance · Canton Platform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4D38"/>
                </a:solidFill>
              </a:defRPr>
            </a:pPr>
            <a:r>
              <a:t>Architecture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 b="1">
                <a:solidFill>
                  <a:srgbClr val="006A4D"/>
                </a:solidFill>
              </a:defRPr>
            </a:pPr>
            <a:r>
              <a:t>Experience</a:t>
            </a:r>
          </a:p>
          <a:p>
            <a:pPr>
              <a:spcAft>
                <a:spcPts val="600"/>
              </a:spcAft>
              <a:defRPr sz="1500">
                <a:solidFill>
                  <a:srgbClr val="1A1F1C"/>
                </a:solidFill>
              </a:defRPr>
            </a:pPr>
            <a:r>
              <a:t>Customer app (localhost:5174) · Admin console (localhost:5175) · Vendor portal</a:t>
            </a:r>
          </a:p>
          <a:p>
            <a:pPr>
              <a:spcBef>
                <a:spcPts val="1000"/>
              </a:spcBef>
              <a:defRPr sz="1600" b="1">
                <a:solidFill>
                  <a:srgbClr val="006A4D"/>
                </a:solidFill>
              </a:defRPr>
            </a:pPr>
            <a:r>
              <a:t>Core services</a:t>
            </a:r>
          </a:p>
          <a:p>
            <a:pPr>
              <a:spcAft>
                <a:spcPts val="600"/>
              </a:spcAft>
              <a:defRPr sz="1500">
                <a:solidFill>
                  <a:srgbClr val="1A1F1C"/>
                </a:solidFill>
              </a:defRPr>
            </a:pPr>
            <a:r>
              <a:t>KYC · Wallet · Policy · Claims · Parametric · Payment · Notification</a:t>
            </a:r>
          </a:p>
          <a:p>
            <a:pPr>
              <a:spcBef>
                <a:spcPts val="1000"/>
              </a:spcBef>
              <a:defRPr sz="1600" b="1">
                <a:solidFill>
                  <a:srgbClr val="006A4D"/>
                </a:solidFill>
              </a:defRPr>
            </a:pPr>
            <a:r>
              <a:t>Ledger &amp; intelligence</a:t>
            </a:r>
          </a:p>
          <a:p>
            <a:pPr>
              <a:spcAft>
                <a:spcPts val="600"/>
              </a:spcAft>
              <a:defRPr sz="1500">
                <a:solidFill>
                  <a:srgbClr val="1A1F1C"/>
                </a:solidFill>
              </a:defRPr>
            </a:pPr>
            <a:r>
              <a:t>Blockchain orchestrator · Canton · Ledger sidecar · Fraud scorer</a:t>
            </a:r>
          </a:p>
          <a:p>
            <a:pPr>
              <a:spcBef>
                <a:spcPts val="1000"/>
              </a:spcBef>
              <a:defRPr sz="1600" b="1">
                <a:solidFill>
                  <a:srgbClr val="006A4D"/>
                </a:solidFill>
              </a:defRPr>
            </a:pPr>
            <a:r>
              <a:t>AI</a:t>
            </a:r>
          </a:p>
          <a:p>
            <a:pPr>
              <a:spcAft>
                <a:spcPts val="600"/>
              </a:spcAft>
              <a:defRPr sz="1500">
                <a:solidFill>
                  <a:srgbClr val="1A1F1C"/>
                </a:solidFill>
              </a:defRPr>
            </a:pPr>
            <a:r>
              <a:t>KYC auto-agent · Stallion chatbot · Flight oracle · Screen assistant</a:t>
            </a:r>
          </a:p>
          <a:p>
            <a:pPr>
              <a:spcBef>
                <a:spcPts val="1000"/>
              </a:spcBef>
              <a:defRPr sz="1600" b="1">
                <a:solidFill>
                  <a:srgbClr val="006A4D"/>
                </a:solidFill>
              </a:defRPr>
            </a:pPr>
            <a:r>
              <a:t>Events (optional)</a:t>
            </a:r>
          </a:p>
          <a:p>
            <a:pPr>
              <a:spcAft>
                <a:spcPts val="600"/>
              </a:spcAft>
              <a:defRPr sz="1500">
                <a:solidFill>
                  <a:srgbClr val="1A1F1C"/>
                </a:solidFill>
              </a:defRPr>
            </a:pPr>
            <a:r>
              <a:t>Pub/Sub: customer-events, policy-events, wallet-events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35F"/>
                </a:solidFill>
              </a:defRPr>
            </a:pPr>
            <a:r>
              <a:t>Reboot 2026 Insurance · Canton Platform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A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25603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Customer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6576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CF5EB"/>
                </a:solidFill>
              </a:defRPr>
            </a:pPr>
            <a:r>
              <a:t>Identity → Wallet → Cover → On-chain certificate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4D38"/>
                </a:solidFill>
              </a:defRPr>
            </a:pPr>
            <a:r>
              <a:t>1 · KYC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A1F1C"/>
                </a:solidFill>
              </a:defRPr>
            </a:pPr>
            <a:r>
              <a:t>Register → Upload ID + selfie → Submit KYC</a:t>
            </a:r>
          </a:p>
          <a:p>
            <a:pPr>
              <a:spcAft>
                <a:spcPts val="600"/>
              </a:spcAft>
              <a:defRPr sz="1500">
                <a:solidFill>
                  <a:srgbClr val="1A1F1C"/>
                </a:solidFill>
              </a:defRPr>
            </a:pPr>
            <a:r>
              <a:t>AI KYC agent (default ON) or manual admin review</a:t>
            </a:r>
          </a:p>
          <a:p>
            <a:pPr>
              <a:spcAft>
                <a:spcPts val="600"/>
              </a:spcAft>
              <a:defRPr sz="1500">
                <a:solidFill>
                  <a:srgbClr val="1A1F1C"/>
                </a:solidFill>
              </a:defRPr>
            </a:pPr>
            <a:r>
              <a:t>Admin approve → pending_consent (not straight to verified)</a:t>
            </a:r>
          </a:p>
          <a:p>
            <a:pPr>
              <a:spcAft>
                <a:spcPts val="600"/>
              </a:spcAft>
              <a:defRPr sz="1500">
                <a:solidFill>
                  <a:srgbClr val="1A1F1C"/>
                </a:solidFill>
              </a:defRPr>
            </a:pPr>
            <a:r>
              <a:t>Customer accepts digitisation consent → verified</a:t>
            </a:r>
          </a:p>
          <a:p>
            <a:pPr>
              <a:spcAft>
                <a:spcPts val="600"/>
              </a:spcAft>
              <a:defRPr sz="1500">
                <a:solidFill>
                  <a:srgbClr val="1A1F1C"/>
                </a:solidFill>
              </a:defRPr>
            </a:pPr>
            <a:r>
              <a:t>Publishes CustomerVerified event (does not auto-create wallet)</a:t>
            </a:r>
          </a:p>
          <a:p>
            <a:pPr lvl="1">
              <a:defRPr sz="1400">
                <a:solidFill>
                  <a:srgbClr val="1A1F1C"/>
                </a:solidFill>
              </a:defRPr>
            </a:pPr>
            <a:r>
              <a:t>→ Gate for wallet creation and Canton policy mint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8064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D97706"/>
                </a:solidFill>
              </a:defRPr>
            </a:pPr>
            <a:r>
              <a:t>Insight: Two consent layers: KYC digitisation vs wallet email consent.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35F"/>
                </a:solidFill>
              </a:defRPr>
            </a:pPr>
            <a:r>
              <a:t>Reboot 2026 Insurance · Canton Platform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4D38"/>
                </a:solidFill>
              </a:defRPr>
            </a:pPr>
            <a:r>
              <a:t>2 · Wallet linking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A1F1C"/>
                </a:solidFill>
              </a:defRPr>
            </a:pPr>
            <a:r>
              <a:t>Requires kyc_status = verified</a:t>
            </a:r>
          </a:p>
          <a:p>
            <a:pPr>
              <a:spcAft>
                <a:spcPts val="600"/>
              </a:spcAft>
              <a:defRPr sz="1500">
                <a:solidFill>
                  <a:srgbClr val="1A1F1C"/>
                </a:solidFill>
              </a:defRPr>
            </a:pPr>
            <a:r>
              <a:t>Create secure wallet (demo SHA-256 address) or link external 0x address</a:t>
            </a:r>
          </a:p>
          <a:p>
            <a:pPr>
              <a:spcAft>
                <a:spcPts val="600"/>
              </a:spcAft>
              <a:defRPr sz="1500">
                <a:solidFill>
                  <a:srgbClr val="1A1F1C"/>
                </a:solidFill>
              </a:defRPr>
            </a:pPr>
            <a:r>
              <a:t>Status → connected · publishes WalletLinked event</a:t>
            </a:r>
          </a:p>
          <a:p>
            <a:pPr>
              <a:spcAft>
                <a:spcPts val="600"/>
              </a:spcAft>
              <a:defRPr sz="1500">
                <a:solidFill>
                  <a:srgbClr val="1A1F1C"/>
                </a:solidFill>
              </a:defRPr>
            </a:pPr>
            <a:r>
              <a:t>Policy service retries any pending Canton mints</a:t>
            </a:r>
          </a:p>
          <a:p>
            <a:pPr>
              <a:spcAft>
                <a:spcPts val="600"/>
              </a:spcAft>
              <a:defRPr sz="1500">
                <a:solidFill>
                  <a:srgbClr val="1A1F1C"/>
                </a:solidFill>
              </a:defRPr>
            </a:pPr>
            <a:r>
              <a:t>Premium payment via POST /api/payments/wallet debits customer wallet</a:t>
            </a:r>
          </a:p>
          <a:p>
            <a:pPr>
              <a:spcAft>
                <a:spcPts val="600"/>
              </a:spcAft>
              <a:defRPr sz="1500">
                <a:solidFill>
                  <a:srgbClr val="1A1F1C"/>
                </a:solidFill>
              </a:defRPr>
            </a:pPr>
            <a:r>
              <a:t>Claim payout can auto-provision wallet if address known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35F"/>
                </a:solidFill>
              </a:defRPr>
            </a:pPr>
            <a:r>
              <a:t>Reboot 2026 Insurance · Canton Platform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4D38"/>
                </a:solidFill>
              </a:defRPr>
            </a:pPr>
            <a:r>
              <a:t>3 · Policy issuance &amp; minting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A1F1C"/>
                </a:solidFill>
              </a:defRPr>
            </a:pPr>
            <a:r>
              <a:t>Quote → Pay premium (wallet) → Policy ISSUED (off-chain record)</a:t>
            </a:r>
          </a:p>
          <a:p>
            <a:pPr>
              <a:spcAft>
                <a:spcPts val="600"/>
              </a:spcAft>
              <a:defRPr sz="1500">
                <a:solidFill>
                  <a:srgbClr val="1A1F1C"/>
                </a:solidFill>
              </a:defRPr>
            </a:pPr>
            <a:r>
              <a:t>Premium credits vendor reserve (vendor-vitality, vendor-homeshield)</a:t>
            </a:r>
          </a:p>
          <a:p>
            <a:pPr>
              <a:spcAft>
                <a:spcPts val="600"/>
              </a:spcAft>
              <a:defRPr sz="1500">
                <a:solidFill>
                  <a:srgbClr val="1A1F1C"/>
                </a:solidFill>
              </a:defRPr>
            </a:pPr>
            <a:r>
              <a:t>Mint gates: paid + KYC verified + wallet connected + compliance</a:t>
            </a:r>
          </a:p>
          <a:p>
            <a:pPr>
              <a:spcAft>
                <a:spcPts val="600"/>
              </a:spcAft>
              <a:defRPr sz="1500">
                <a:solidFill>
                  <a:srgbClr val="1A1F1C"/>
                </a:solidFill>
              </a:defRPr>
            </a:pPr>
            <a:r>
              <a:t>Orchestrator mints policy NFT on Canton → status MINTED</a:t>
            </a:r>
          </a:p>
          <a:p>
            <a:pPr>
              <a:spcAft>
                <a:spcPts val="600"/>
              </a:spcAft>
              <a:defRPr sz="1500">
                <a:solidFill>
                  <a:srgbClr val="1A1F1C"/>
                </a:solidFill>
              </a:defRPr>
            </a:pPr>
            <a:r>
              <a:t>Post-mint: parametric rules auto-provisioned (travel / motor)</a:t>
            </a:r>
          </a:p>
          <a:p>
            <a:pPr>
              <a:spcAft>
                <a:spcPts val="600"/>
              </a:spcAft>
              <a:defRPr sz="1500">
                <a:solidFill>
                  <a:srgbClr val="1A1F1C"/>
                </a:solidFill>
              </a:defRPr>
            </a:pPr>
            <a:r>
              <a:t>Admin can force mint from Tokenization queue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8064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D97706"/>
                </a:solidFill>
              </a:defRPr>
            </a:pPr>
            <a:r>
              <a:t>Insight: Deferred mint: policy can be ISSUED while waiting for wallet.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35F"/>
                </a:solidFill>
              </a:defRPr>
            </a:pPr>
            <a:r>
              <a:t>Reboot 2026 Insurance · Canton Platform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A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25603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Claims &amp; settlement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6576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CF5EB"/>
                </a:solidFill>
              </a:defRPr>
            </a:pPr>
            <a:r>
              <a:t>Manual review · Parametric automation · GBP payout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4D38"/>
                </a:solidFill>
              </a:defRPr>
            </a:pPr>
            <a:r>
              <a:t>4 · Manual claim settlement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A1F1C"/>
                </a:solidFill>
              </a:defRPr>
            </a:pPr>
            <a:r>
              <a:t>Customer submits claim → pending_approval</a:t>
            </a:r>
          </a:p>
          <a:p>
            <a:pPr>
              <a:spcAft>
                <a:spcPts val="600"/>
              </a:spcAft>
              <a:defRPr sz="1500">
                <a:solidFill>
                  <a:srgbClr val="1A1F1C"/>
                </a:solidFill>
              </a:defRPr>
            </a:pPr>
            <a:r>
              <a:t>Admin review → approve (re-verify Canton + coverage cap)</a:t>
            </a:r>
          </a:p>
          <a:p>
            <a:pPr>
              <a:spcAft>
                <a:spcPts val="600"/>
              </a:spcAft>
              <a:defRPr sz="1500">
                <a:solidFill>
                  <a:srgbClr val="1A1F1C"/>
                </a:solidFill>
              </a:defRPr>
            </a:pPr>
            <a:r>
              <a:t>Wallet-service: claims-pool debit → customer wallet credit</a:t>
            </a:r>
          </a:p>
          <a:p>
            <a:pPr>
              <a:spcAft>
                <a:spcPts val="600"/>
              </a:spcAft>
              <a:defRPr sz="1500">
                <a:solidFill>
                  <a:srgbClr val="1A1F1C"/>
                </a:solidFill>
              </a:defRPr>
            </a:pPr>
            <a:r>
              <a:t>Coverage consumed on policy · chain settlement (best-effort)</a:t>
            </a:r>
          </a:p>
          <a:p>
            <a:pPr>
              <a:spcAft>
                <a:spcPts val="600"/>
              </a:spcAft>
              <a:defRPr sz="1500">
                <a:solidFill>
                  <a:srgbClr val="1A1F1C"/>
                </a:solidFill>
              </a:defRPr>
            </a:pPr>
            <a:r>
              <a:t>Status → settled</a:t>
            </a:r>
          </a:p>
          <a:p>
            <a:pPr>
              <a:spcAft>
                <a:spcPts val="600"/>
              </a:spcAft>
              <a:defRPr sz="1500">
                <a:solidFill>
                  <a:srgbClr val="1A1F1C"/>
                </a:solidFill>
              </a:defRPr>
            </a:pPr>
            <a:r>
              <a:t>Open queries block approval until resolved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35F"/>
                </a:solidFill>
              </a:defRPr>
            </a:pPr>
            <a:r>
              <a:t>Reboot 2026 Insurance · Canton Platform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4D38"/>
                </a:solidFill>
              </a:defRPr>
            </a:pPr>
            <a:r>
              <a:t>5 · Parametric settlement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A1F1C"/>
                </a:solidFill>
              </a:defRPr>
            </a:pPr>
            <a:r>
              <a:t>Rules created at mint from quote answers (flight, telematics)</a:t>
            </a:r>
          </a:p>
          <a:p>
            <a:pPr>
              <a:spcAft>
                <a:spcPts val="600"/>
              </a:spcAft>
              <a:defRPr sz="1500">
                <a:solidFill>
                  <a:srgbClr val="1A1F1C"/>
                </a:solidFill>
              </a:defRPr>
            </a:pPr>
            <a:r>
              <a:t>Triggers: admin simulate · live flight oracle poll</a:t>
            </a:r>
          </a:p>
          <a:p>
            <a:pPr>
              <a:spcAft>
                <a:spcPts val="600"/>
              </a:spcAft>
              <a:defRPr sz="1500">
                <a:solidFill>
                  <a:srgbClr val="1A1F1C"/>
                </a:solidFill>
              </a:defRPr>
            </a:pPr>
            <a:r>
              <a:t>Threshold matched → parametric claim created</a:t>
            </a:r>
          </a:p>
          <a:p>
            <a:pPr>
              <a:spcAft>
                <a:spcPts val="600"/>
              </a:spcAft>
              <a:defRPr sz="1500">
                <a:solidFill>
                  <a:srgbClr val="1A1F1C"/>
                </a:solidFill>
              </a:defRPr>
            </a:pPr>
            <a:r>
              <a:t>≤ £500: auto approveAndSettle immediately</a:t>
            </a:r>
          </a:p>
          <a:p>
            <a:pPr>
              <a:spcAft>
                <a:spcPts val="600"/>
              </a:spcAft>
              <a:defRPr sz="1500">
                <a:solidFill>
                  <a:srgbClr val="1A1F1C"/>
                </a:solidFill>
              </a:defRPr>
            </a:pPr>
            <a:r>
              <a:t>&gt; £500: joins manual approval queue</a:t>
            </a:r>
          </a:p>
          <a:p>
            <a:pPr>
              <a:spcAft>
                <a:spcPts val="600"/>
              </a:spcAft>
              <a:defRPr sz="1500">
                <a:solidFill>
                  <a:srgbClr val="1A1F1C"/>
                </a:solidFill>
              </a:defRPr>
            </a:pPr>
            <a:r>
              <a:t>Chain record (oracle → pool) is audit-only; GBP moves at credit-claim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35F"/>
                </a:solidFill>
              </a:defRPr>
            </a:pPr>
            <a:r>
              <a:t>Reboot 2026 Insurance · Canton Platform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4D38"/>
                </a:solidFill>
              </a:defRPr>
            </a:pPr>
            <a:r>
              <a:t>6 · Fund transfer (claim success)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 b="1">
                <a:solidFill>
                  <a:srgbClr val="006A4D"/>
                </a:solidFill>
              </a:defRPr>
            </a:pPr>
            <a:r>
              <a:t>Premium inflow</a:t>
            </a:r>
          </a:p>
          <a:p>
            <a:pPr>
              <a:spcAft>
                <a:spcPts val="600"/>
              </a:spcAft>
              <a:defRPr sz="1500">
                <a:solidFill>
                  <a:srgbClr val="1A1F1C"/>
                </a:solidFill>
              </a:defRPr>
            </a:pPr>
            <a:r>
              <a:t>Customer wallet −£ → Vendor reserve +£ (vendor_premium)</a:t>
            </a:r>
          </a:p>
          <a:p>
            <a:pPr>
              <a:spcBef>
                <a:spcPts val="1000"/>
              </a:spcBef>
              <a:defRPr sz="1600" b="1">
                <a:solidFill>
                  <a:srgbClr val="006A4D"/>
                </a:solidFill>
              </a:defRPr>
            </a:pPr>
            <a:r>
              <a:t>Pool funding</a:t>
            </a:r>
          </a:p>
          <a:p>
            <a:pPr>
              <a:spcAft>
                <a:spcPts val="600"/>
              </a:spcAft>
              <a:defRPr sz="1500">
                <a:solidFill>
                  <a:srgbClr val="1A1F1C"/>
                </a:solidFill>
              </a:defRPr>
            </a:pPr>
            <a:r>
              <a:t>Vendor reserve → Claims pool (vendor_contribution)</a:t>
            </a:r>
          </a:p>
          <a:p>
            <a:pPr>
              <a:spcAft>
                <a:spcPts val="600"/>
              </a:spcAft>
              <a:defRPr sz="1500">
                <a:solidFill>
                  <a:srgbClr val="1A1F1C"/>
                </a:solidFill>
              </a:defRPr>
            </a:pPr>
            <a:r>
              <a:t>Admin top-up · Demo seed: £100k claims pool, £50k per vendor reserve</a:t>
            </a:r>
          </a:p>
          <a:p>
            <a:pPr>
              <a:spcBef>
                <a:spcPts val="1000"/>
              </a:spcBef>
              <a:defRPr sz="1600" b="1">
                <a:solidFill>
                  <a:srgbClr val="006A4D"/>
                </a:solidFill>
              </a:defRPr>
            </a:pPr>
            <a:r>
              <a:t>Claim payout</a:t>
            </a:r>
          </a:p>
          <a:p>
            <a:pPr>
              <a:spcAft>
                <a:spcPts val="600"/>
              </a:spcAft>
              <a:defRPr sz="1500">
                <a:solidFill>
                  <a:srgbClr val="1A1F1C"/>
                </a:solidFill>
              </a:defRPr>
            </a:pPr>
            <a:r>
              <a:t>Claims pool −£ → Customer wallet +£ (idempotent per claimId)</a:t>
            </a:r>
          </a:p>
          <a:p>
            <a:pPr>
              <a:spcAft>
                <a:spcPts val="600"/>
              </a:spcAft>
              <a:defRPr sz="1500">
                <a:solidFill>
                  <a:srgbClr val="1A1F1C"/>
                </a:solidFill>
              </a:defRPr>
            </a:pPr>
            <a:r>
              <a:t>Canton ledger mirrors: claims-pool → customer wallet (on-chain settlement record)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8064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D97706"/>
                </a:solidFill>
              </a:defRPr>
            </a:pPr>
            <a:r>
              <a:t>Insight: Claims paid from claims-pool — vendors must contribute reserve first.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35F"/>
                </a:solidFill>
              </a:defRPr>
            </a:pPr>
            <a:r>
              <a:t>Reboot 2026 Insurance · Canton Platform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4D38"/>
                </a:solidFill>
              </a:defRPr>
            </a:pPr>
            <a:r>
              <a:t>AI &amp; automation touchpoints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143000"/>
          <a:ext cx="111556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8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18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Capability</a:t>
                      </a:r>
                    </a:p>
                  </a:txBody>
                  <a:tcPr>
                    <a:solidFill>
                      <a:srgbClr val="006A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Service</a:t>
                      </a:r>
                    </a:p>
                  </a:txBody>
                  <a:tcPr>
                    <a:solidFill>
                      <a:srgbClr val="006A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006A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F1C"/>
                          </a:solidFill>
                        </a:defRPr>
                      </a:pPr>
                      <a:r>
                        <a:t>KYC AI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F1C"/>
                          </a:solidFill>
                        </a:defRPr>
                      </a:pPr>
                      <a:r>
                        <a:t>kyc-service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F1C"/>
                          </a:solidFill>
                        </a:defRPr>
                      </a:pPr>
                      <a:r>
                        <a:t>Auto-approve submissions (toggle in admin)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F1C"/>
                          </a:solidFill>
                        </a:defRPr>
                      </a:pPr>
                      <a:r>
                        <a:t>Stallion chatbot</a:t>
                      </a:r>
                    </a:p>
                  </a:txBody>
                  <a:tcPr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F1C"/>
                          </a:solidFill>
                        </a:defRPr>
                      </a:pPr>
                      <a:r>
                        <a:t>chatbot :8090</a:t>
                      </a:r>
                    </a:p>
                  </a:txBody>
                  <a:tcPr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F1C"/>
                          </a:solidFill>
                        </a:defRPr>
                      </a:pPr>
                      <a:r>
                        <a:t>RAG insurance Q&amp;A for customers</a:t>
                      </a:r>
                    </a:p>
                  </a:txBody>
                  <a:tcPr>
                    <a:solidFill>
                      <a:srgbClr val="E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F1C"/>
                          </a:solidFill>
                        </a:defRPr>
                      </a:pPr>
                      <a:r>
                        <a:t>Screen assistant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F1C"/>
                          </a:solidFill>
                        </a:defRPr>
                      </a:pPr>
                      <a:r>
                        <a:t>kyc-service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F1C"/>
                          </a:solidFill>
                        </a:defRPr>
                      </a:pPr>
                      <a:r>
                        <a:t>Contextual hints per screen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F1C"/>
                          </a:solidFill>
                        </a:defRPr>
                      </a:pPr>
                      <a:r>
                        <a:t>Flight oracle</a:t>
                      </a:r>
                    </a:p>
                  </a:txBody>
                  <a:tcPr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F1C"/>
                          </a:solidFill>
                        </a:defRPr>
                      </a:pPr>
                      <a:r>
                        <a:t>parametric</a:t>
                      </a:r>
                    </a:p>
                  </a:txBody>
                  <a:tcPr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F1C"/>
                          </a:solidFill>
                        </a:defRPr>
                      </a:pPr>
                      <a:r>
                        <a:t>Poll delay data; trigger rules</a:t>
                      </a:r>
                    </a:p>
                  </a:txBody>
                  <a:tcPr>
                    <a:solidFill>
                      <a:srgbClr val="E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F1C"/>
                          </a:solidFill>
                        </a:defRPr>
                      </a:pPr>
                      <a:r>
                        <a:t>Fraud scorer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F1C"/>
                          </a:solidFill>
                        </a:defRPr>
                      </a:pPr>
                      <a:r>
                        <a:t>orchestrator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F1C"/>
                          </a:solidFill>
                        </a:defRPr>
                      </a:pPr>
                      <a:r>
                        <a:t>Heuristic on mint/settle txs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F1C"/>
                          </a:solidFill>
                        </a:defRPr>
                      </a:pPr>
                      <a:r>
                        <a:t>Deferred mint</a:t>
                      </a:r>
                    </a:p>
                  </a:txBody>
                  <a:tcPr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F1C"/>
                          </a:solidFill>
                        </a:defRPr>
                      </a:pPr>
                      <a:r>
                        <a:t>policy-service</a:t>
                      </a:r>
                    </a:p>
                  </a:txBody>
                  <a:tcPr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F1C"/>
                          </a:solidFill>
                        </a:defRPr>
                      </a:pPr>
                      <a:r>
                        <a:t>Retry on WalletLinked event</a:t>
                      </a:r>
                    </a:p>
                  </a:txBody>
                  <a:tcPr>
                    <a:solidFill>
                      <a:srgbClr val="E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F1C"/>
                          </a:solidFill>
                        </a:defRPr>
                      </a:pPr>
                      <a:r>
                        <a:t>Auto-settle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F1C"/>
                          </a:solidFill>
                        </a:defRPr>
                      </a:pPr>
                      <a:r>
                        <a:t>claims-service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F1C"/>
                          </a:solidFill>
                        </a:defRPr>
                      </a:pPr>
                      <a:r>
                        <a:t>Parametric claims ≤ £500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35F"/>
                </a:solidFill>
              </a:defRPr>
            </a:pPr>
            <a:r>
              <a:t>Reboot 2026 Insurance · Canton Platform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4D38"/>
                </a:solidFill>
              </a:defRPr>
            </a:pPr>
            <a:r>
              <a:t>Blockchain &amp; Canton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A1F1C"/>
                </a:solidFill>
              </a:defRPr>
            </a:pPr>
            <a:r>
              <a:t>Policy NFT mint via blockchain-orchestrator → Canton JSON API</a:t>
            </a:r>
          </a:p>
          <a:p>
            <a:pPr>
              <a:spcAft>
                <a:spcPts val="600"/>
              </a:spcAft>
              <a:defRPr sz="1500">
                <a:solidFill>
                  <a:srgbClr val="1A1F1C"/>
                </a:solidFill>
              </a:defRPr>
            </a:pPr>
            <a:r>
              <a:t>Insurance chain: PoA validator, typed ledgers (POLICY, CLAIMS, AUDIT)</a:t>
            </a:r>
          </a:p>
          <a:p>
            <a:pPr>
              <a:spcAft>
                <a:spcPts val="600"/>
              </a:spcAft>
              <a:defRPr sz="1500">
                <a:solidFill>
                  <a:srgbClr val="1A1F1C"/>
                </a:solidFill>
              </a:defRPr>
            </a:pPr>
            <a:r>
              <a:t>Claim settlement recorded on-chain (parallel to wallet GBP)</a:t>
            </a:r>
          </a:p>
          <a:p>
            <a:pPr>
              <a:spcAft>
                <a:spcPts val="600"/>
              </a:spcAft>
              <a:defRPr sz="1500">
                <a:solidFill>
                  <a:srgbClr val="1A1F1C"/>
                </a:solidFill>
              </a:defRPr>
            </a:pPr>
            <a:r>
              <a:t>Admin: Tokenization queue, Chain Monitor, Blockchain Ledger UI</a:t>
            </a:r>
          </a:p>
          <a:p>
            <a:pPr>
              <a:spcAft>
                <a:spcPts val="600"/>
              </a:spcAft>
              <a:defRPr sz="1500">
                <a:solidFill>
                  <a:srgbClr val="1A1F1C"/>
                </a:solidFill>
              </a:defRPr>
            </a:pPr>
            <a:r>
              <a:t>Canton JSON API + ledger sidecar for Daml template wire-up</a:t>
            </a:r>
          </a:p>
          <a:p>
            <a:pPr>
              <a:spcAft>
                <a:spcPts val="600"/>
              </a:spcAft>
              <a:defRPr sz="1500">
                <a:solidFill>
                  <a:srgbClr val="1A1F1C"/>
                </a:solidFill>
              </a:defRPr>
            </a:pPr>
            <a:r>
              <a:t>Document hashes &amp; fraud scoring at transaction ingest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35F"/>
                </a:solidFill>
              </a:defRPr>
            </a:pPr>
            <a:r>
              <a:t>Reboot 2026 Insurance · Canton Platform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4D38"/>
                </a:solidFill>
              </a:defRPr>
            </a:pPr>
            <a:r>
              <a:t>Vendor 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A1F1C"/>
                </a:solidFill>
              </a:defRPr>
            </a:pPr>
            <a:r>
              <a:t>Partners: Vitality (health-plan) · HomeShield (home-insurance)</a:t>
            </a:r>
          </a:p>
          <a:p>
            <a:pPr>
              <a:spcAft>
                <a:spcPts val="600"/>
              </a:spcAft>
              <a:defRPr sz="1500">
                <a:solidFill>
                  <a:srgbClr val="1A1F1C"/>
                </a:solidFill>
              </a:defRPr>
            </a:pPr>
            <a:r>
              <a:t>Vendor reserve receives customer premiums (vendor_premium tx)</a:t>
            </a:r>
          </a:p>
          <a:p>
            <a:pPr>
              <a:spcAft>
                <a:spcPts val="600"/>
              </a:spcAft>
              <a:defRPr sz="1500">
                <a:solidFill>
                  <a:srgbClr val="1A1F1C"/>
                </a:solidFill>
              </a:defRPr>
            </a:pPr>
            <a:r>
              <a:t>Vendor portal: fund shared claims pool from reserve</a:t>
            </a:r>
          </a:p>
          <a:p>
            <a:pPr>
              <a:spcAft>
                <a:spcPts val="600"/>
              </a:spcAft>
              <a:defRPr sz="1500">
                <a:solidFill>
                  <a:srgbClr val="1A1F1C"/>
                </a:solidFill>
              </a:defRPr>
            </a:pPr>
            <a:r>
              <a:t>Vitality quote UI: /vendors/vitality → /quote/health-plan</a:t>
            </a:r>
          </a:p>
          <a:p>
            <a:pPr>
              <a:spcAft>
                <a:spcPts val="600"/>
              </a:spcAft>
              <a:defRPr sz="1500">
                <a:solidFill>
                  <a:srgbClr val="1A1F1C"/>
                </a:solidFill>
              </a:defRPr>
            </a:pPr>
            <a:r>
              <a:t>Demo logins: vendor.vitality@example.com / VendorDemo123!</a:t>
            </a:r>
          </a:p>
          <a:p>
            <a:pPr>
              <a:spcAft>
                <a:spcPts val="600"/>
              </a:spcAft>
              <a:defRPr sz="1500">
                <a:solidFill>
                  <a:srgbClr val="1A1F1C"/>
                </a:solidFill>
              </a:defRPr>
            </a:pPr>
            <a:r>
              <a:t>Claim settlement debits claims-pool (not vendor reserve directly)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35F"/>
                </a:solidFill>
              </a:defRPr>
            </a:pPr>
            <a:r>
              <a:t>Reboot 2026 Insurance · Canton Platform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4D38"/>
                </a:solidFill>
              </a:defRPr>
            </a:pPr>
            <a:r>
              <a:t>Admin operations console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A1F1C"/>
                </a:solidFill>
              </a:defRPr>
            </a:pPr>
            <a:r>
              <a:t>KYC review queue · Customer registry</a:t>
            </a:r>
          </a:p>
          <a:p>
            <a:pPr>
              <a:spcAft>
                <a:spcPts val="600"/>
              </a:spcAft>
              <a:defRPr sz="1500">
                <a:solidFill>
                  <a:srgbClr val="1A1F1C"/>
                </a:solidFill>
              </a:defRPr>
            </a:pPr>
            <a:r>
              <a:t>Tokenization / mint queue · Compliance controls</a:t>
            </a:r>
          </a:p>
          <a:p>
            <a:pPr>
              <a:spcAft>
                <a:spcPts val="600"/>
              </a:spcAft>
              <a:defRPr sz="1500">
                <a:solidFill>
                  <a:srgbClr val="1A1F1C"/>
                </a:solidFill>
              </a:defRPr>
            </a:pPr>
            <a:r>
              <a:t>Claims approval · Parametric simulation</a:t>
            </a:r>
          </a:p>
          <a:p>
            <a:pPr>
              <a:spcAft>
                <a:spcPts val="600"/>
              </a:spcAft>
              <a:defRPr sz="1500">
                <a:solidFill>
                  <a:srgbClr val="1A1F1C"/>
                </a:solidFill>
              </a:defRPr>
            </a:pPr>
            <a:r>
              <a:t>Wallet ops: claims pool top-up, vendor reserves</a:t>
            </a:r>
          </a:p>
          <a:p>
            <a:pPr>
              <a:spcAft>
                <a:spcPts val="600"/>
              </a:spcAft>
              <a:defRPr sz="1500">
                <a:solidFill>
                  <a:srgbClr val="1A1F1C"/>
                </a:solidFill>
              </a:defRPr>
            </a:pPr>
            <a:r>
              <a:t>Platform flows reference (login page animation)</a:t>
            </a:r>
          </a:p>
          <a:p>
            <a:pPr>
              <a:spcAft>
                <a:spcPts val="600"/>
              </a:spcAft>
              <a:defRPr sz="1500">
                <a:solidFill>
                  <a:srgbClr val="1A1F1C"/>
                </a:solidFill>
              </a:defRPr>
            </a:pPr>
            <a:r>
              <a:t>Chain observability · Reports · Vendor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35F"/>
                </a:solidFill>
              </a:defRPr>
            </a:pPr>
            <a:r>
              <a:t>Reboot 2026 Insurance · Canton Platform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A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25603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6576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CF5EB"/>
                </a:solidFill>
              </a:defRPr>
            </a:pPr>
            <a:r>
              <a:t>Cloud Run + Firebase Hosting · GCP insure360-83a36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4D38"/>
                </a:solidFill>
              </a:defRPr>
            </a:pPr>
            <a:r>
              <a:t>Live &amp; local URLs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143000"/>
          <a:ext cx="1115568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8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18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App</a:t>
                      </a:r>
                    </a:p>
                  </a:txBody>
                  <a:tcPr>
                    <a:solidFill>
                      <a:srgbClr val="006A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Local</a:t>
                      </a:r>
                    </a:p>
                  </a:txBody>
                  <a:tcPr>
                    <a:solidFill>
                      <a:srgbClr val="006A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Production</a:t>
                      </a:r>
                    </a:p>
                  </a:txBody>
                  <a:tcPr>
                    <a:solidFill>
                      <a:srgbClr val="006A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F1C"/>
                          </a:solidFill>
                        </a:defRPr>
                      </a:pPr>
                      <a:r>
                        <a:t>Customer 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F1C"/>
                          </a:solidFill>
                        </a:defRPr>
                      </a:pPr>
                      <a:r>
                        <a:t>http://localhost:5174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F1C"/>
                          </a:solidFill>
                        </a:defRPr>
                      </a:pPr>
                      <a:r>
                        <a:t>https://insure360-83a36.web.app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F1C"/>
                          </a:solidFill>
                        </a:defRPr>
                      </a:pPr>
                      <a:r>
                        <a:t>Admin console</a:t>
                      </a:r>
                    </a:p>
                  </a:txBody>
                  <a:tcPr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F1C"/>
                          </a:solidFill>
                        </a:defRPr>
                      </a:pPr>
                      <a:r>
                        <a:t>http://localhost:5175</a:t>
                      </a:r>
                    </a:p>
                  </a:txBody>
                  <a:tcPr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F1C"/>
                          </a:solidFill>
                        </a:defRPr>
                      </a:pPr>
                      <a:r>
                        <a:t>https://insure360-83a36-admin.web.app</a:t>
                      </a:r>
                    </a:p>
                  </a:txBody>
                  <a:tcPr>
                    <a:solidFill>
                      <a:srgbClr val="E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F1C"/>
                          </a:solidFill>
                        </a:defRPr>
                      </a:pPr>
                      <a:r>
                        <a:t>Vendor portal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F1C"/>
                          </a:solidFill>
                        </a:defRPr>
                      </a:pPr>
                      <a:r>
                        <a:t>localhost:5175/vendor/portal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F1C"/>
                          </a:solidFill>
                        </a:defRPr>
                      </a:pPr>
                      <a:r>
                        <a:t>Same admin hosting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F1C"/>
                          </a:solidFill>
                        </a:defRPr>
                      </a:pPr>
                      <a:r>
                        <a:t>Admin login</a:t>
                      </a:r>
                    </a:p>
                  </a:txBody>
                  <a:tcPr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F1C"/>
                          </a:solidFill>
                        </a:defRPr>
                      </a:pPr>
                      <a:r>
                        <a:t>admin@reboot2026.local</a:t>
                      </a:r>
                    </a:p>
                  </a:txBody>
                  <a:tcPr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F1C"/>
                          </a:solidFill>
                        </a:defRPr>
                      </a:pPr>
                      <a:r>
                        <a:t>Reboot2026!Admin (seeded)</a:t>
                      </a:r>
                    </a:p>
                  </a:txBody>
                  <a:tcPr>
                    <a:solidFill>
                      <a:srgbClr val="E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F1C"/>
                          </a:solidFill>
                        </a:defRPr>
                      </a:pPr>
                      <a:r>
                        <a:t>Deploy APIs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F1C"/>
                          </a:solidFill>
                        </a:defRPr>
                      </a:pPr>
                      <a:r>
                        <a:t>local-dev.cmd 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F1C"/>
                          </a:solidFill>
                        </a:defRPr>
                      </a:pPr>
                      <a:r>
                        <a:t>deploy\deploy-cloud-run.cmd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F1C"/>
                          </a:solidFill>
                        </a:defRPr>
                      </a:pPr>
                      <a:r>
                        <a:t>Deploy UIs</a:t>
                      </a:r>
                    </a:p>
                  </a:txBody>
                  <a:tcPr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F1C"/>
                          </a:solidFill>
                        </a:defRPr>
                      </a:pPr>
                      <a:r>
                        <a:t>npm run dev</a:t>
                      </a:r>
                    </a:p>
                  </a:txBody>
                  <a:tcPr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F1C"/>
                          </a:solidFill>
                        </a:defRPr>
                      </a:pPr>
                      <a:r>
                        <a:t>deploy\deploy-firebase.cmd</a:t>
                      </a:r>
                    </a:p>
                  </a:txBody>
                  <a:tcPr>
                    <a:solidFill>
                      <a:srgbClr val="E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35F"/>
                </a:solidFill>
              </a:defRPr>
            </a:pPr>
            <a:r>
              <a:t>Reboot 2026 Insurance · Canton Platform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4D38"/>
                </a:solidFill>
              </a:defRPr>
            </a:pPr>
            <a:r>
              <a:t>Cloud deployment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A1F1C"/>
                </a:solidFill>
              </a:defRPr>
            </a:pPr>
            <a:r>
              <a:t>setup-gcp-project.ps1 — APIs, Artifact Registry, Firebase sites</a:t>
            </a:r>
          </a:p>
          <a:p>
            <a:pPr>
              <a:spcAft>
                <a:spcPts val="600"/>
              </a:spcAft>
              <a:defRPr sz="1500">
                <a:solidFill>
                  <a:srgbClr val="1A1F1C"/>
                </a:solidFill>
              </a:defRPr>
            </a:pPr>
            <a:r>
              <a:t>setup-cloud-sql.ps1 — PostgreSQL instance (optional)</a:t>
            </a:r>
          </a:p>
          <a:p>
            <a:pPr>
              <a:spcAft>
                <a:spcPts val="600"/>
              </a:spcAft>
              <a:defRPr sz="1500">
                <a:solidFill>
                  <a:srgbClr val="1A1F1C"/>
                </a:solidFill>
              </a:defRPr>
            </a:pPr>
            <a:r>
              <a:t>setup-pubsub.cmd — Event bus topics (optional)</a:t>
            </a:r>
          </a:p>
          <a:p>
            <a:pPr>
              <a:spcAft>
                <a:spcPts val="600"/>
              </a:spcAft>
              <a:defRPr sz="1500">
                <a:solidFill>
                  <a:srgbClr val="1A1F1C"/>
                </a:solidFill>
              </a:defRPr>
            </a:pPr>
            <a:r>
              <a:t>deploy-cloud-run.cmd — All microservices + Canton ledger to Cloud Run</a:t>
            </a:r>
          </a:p>
          <a:p>
            <a:pPr>
              <a:spcAft>
                <a:spcPts val="600"/>
              </a:spcAft>
              <a:defRPr sz="1500">
                <a:solidFill>
                  <a:srgbClr val="1A1F1C"/>
                </a:solidFill>
              </a:defRPr>
            </a:pPr>
            <a:r>
              <a:t>deploy-firebase.cmd — Customer + admin SPAs</a:t>
            </a:r>
          </a:p>
          <a:p>
            <a:pPr>
              <a:spcAft>
                <a:spcPts val="600"/>
              </a:spcAft>
              <a:defRPr sz="1500">
                <a:solidFill>
                  <a:srgbClr val="1A1F1C"/>
                </a:solidFill>
              </a:defRPr>
            </a:pPr>
            <a:r>
              <a:t>Deploy flags: enable Cloud SQL and Pub/Sub via setup scripts + env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35F"/>
                </a:solidFill>
              </a:defRPr>
            </a:pPr>
            <a:r>
              <a:t>Reboot 2026 Insurance · Canton Platform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4D38"/>
                </a:solidFill>
              </a:defRPr>
            </a:pPr>
            <a:r>
              <a:t>Demo walkthrough (local)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A1F1C"/>
                </a:solidFill>
              </a:defRPr>
            </a:pPr>
            <a:r>
              <a:t>1. Register → KYC → accept consent → verified</a:t>
            </a:r>
          </a:p>
          <a:p>
            <a:pPr>
              <a:spcAft>
                <a:spcPts val="600"/>
              </a:spcAft>
              <a:defRPr sz="1500">
                <a:solidFill>
                  <a:srgbClr val="1A1F1C"/>
                </a:solidFill>
              </a:defRPr>
            </a:pPr>
            <a:r>
              <a:t>2. Create wallet → WalletLinked → pending policies mint</a:t>
            </a:r>
          </a:p>
          <a:p>
            <a:pPr>
              <a:spcAft>
                <a:spcPts val="600"/>
              </a:spcAft>
              <a:defRPr sz="1500">
                <a:solidFill>
                  <a:srgbClr val="1A1F1C"/>
                </a:solidFill>
              </a:defRPr>
            </a:pPr>
            <a:r>
              <a:t>3. Get quote → Pay from wallet → vendor reserve credited</a:t>
            </a:r>
          </a:p>
          <a:p>
            <a:pPr>
              <a:spcAft>
                <a:spcPts val="600"/>
              </a:spcAft>
              <a:defRPr sz="1500">
                <a:solidFill>
                  <a:srgbClr val="1A1F1C"/>
                </a:solidFill>
              </a:defRPr>
            </a:pPr>
            <a:r>
              <a:t>4. Vendor portal → contribute to claims pool</a:t>
            </a:r>
          </a:p>
          <a:p>
            <a:pPr>
              <a:spcAft>
                <a:spcPts val="600"/>
              </a:spcAft>
              <a:defRPr sz="1500">
                <a:solidFill>
                  <a:srgbClr val="1A1F1C"/>
                </a:solidFill>
              </a:defRPr>
            </a:pPr>
            <a:r>
              <a:t>5. File claim OR simulate parametric flight delay (admin)</a:t>
            </a:r>
          </a:p>
          <a:p>
            <a:pPr>
              <a:spcAft>
                <a:spcPts val="600"/>
              </a:spcAft>
              <a:defRPr sz="1500">
                <a:solidFill>
                  <a:srgbClr val="1A1F1C"/>
                </a:solidFill>
              </a:defRPr>
            </a:pPr>
            <a:r>
              <a:t>6. Approve claim → customer wallet credited from claims-pool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8064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D97706"/>
                </a:solidFill>
              </a:defRPr>
            </a:pPr>
            <a:r>
              <a:t>Insight: Start: local-dev.cmd setup &amp;&amp; local-dev.cmd start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35F"/>
                </a:solidFill>
              </a:defRPr>
            </a:pPr>
            <a:r>
              <a:t>Reboot 2026 Insurance · Canton Platform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4D38"/>
                </a:solidFill>
              </a:defRPr>
            </a:pPr>
            <a:r>
              <a:t>Key design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A1F1C"/>
                </a:solidFill>
              </a:defRPr>
            </a:pPr>
            <a:r>
              <a:t>Wallet creation is always user-initiated after KYC — never automatic</a:t>
            </a:r>
          </a:p>
          <a:p>
            <a:pPr>
              <a:spcAft>
                <a:spcPts val="600"/>
              </a:spcAft>
              <a:defRPr sz="1500">
                <a:solidFill>
                  <a:srgbClr val="1A1F1C"/>
                </a:solidFill>
              </a:defRPr>
            </a:pPr>
            <a:r>
              <a:t>Policies can be ISSUED off-chain while waiting for wallet + mint</a:t>
            </a:r>
          </a:p>
          <a:p>
            <a:pPr>
              <a:spcAft>
                <a:spcPts val="600"/>
              </a:spcAft>
              <a:defRPr sz="1500">
                <a:solidFill>
                  <a:srgbClr val="1A1F1C"/>
                </a:solidFill>
              </a:defRPr>
            </a:pPr>
            <a:r>
              <a:t>GBP truth in wallet-service; blockchain is audit &amp; compliance mirror</a:t>
            </a:r>
          </a:p>
          <a:p>
            <a:pPr>
              <a:spcAft>
                <a:spcPts val="600"/>
              </a:spcAft>
              <a:defRPr sz="1500">
                <a:solidFill>
                  <a:srgbClr val="1A1F1C"/>
                </a:solidFill>
              </a:defRPr>
            </a:pPr>
            <a:r>
              <a:t>Parametric ≤£500 auto-settle reduces ops load for small claims</a:t>
            </a:r>
          </a:p>
          <a:p>
            <a:pPr>
              <a:spcAft>
                <a:spcPts val="600"/>
              </a:spcAft>
              <a:defRPr sz="1500">
                <a:solidFill>
                  <a:srgbClr val="1A1F1C"/>
                </a:solidFill>
              </a:defRPr>
            </a:pPr>
            <a:r>
              <a:t>Vendors must fund claims-pool before sustainable claim payouts</a:t>
            </a:r>
          </a:p>
          <a:p>
            <a:pPr>
              <a:spcAft>
                <a:spcPts val="600"/>
              </a:spcAft>
              <a:defRPr sz="1500">
                <a:solidFill>
                  <a:srgbClr val="1A1F1C"/>
                </a:solidFill>
              </a:defRPr>
            </a:pPr>
            <a:r>
              <a:t>Same-origin API via Firebase rewrites — no VITE_API_BASE in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35F"/>
                </a:solidFill>
              </a:defRPr>
            </a:pPr>
            <a:r>
              <a:t>Reboot 2026 Insurance · Canton Platform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D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EE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0116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52044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C8E6D7"/>
                </a:solidFill>
              </a:defRPr>
            </a:pPr>
            <a:r>
              <a:t>docs/PLATFORM-FLOWS.md · docs/HOSTING-ACCESS.md · deploy/README.md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35F"/>
                </a:solidFill>
              </a:defRPr>
            </a:pPr>
            <a:r>
              <a:t>Canton Network · Daml ledger · insure360-83a36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1444</Words>
  <Application>Microsoft Office PowerPoint</Application>
  <PresentationFormat>Widescreen</PresentationFormat>
  <Paragraphs>222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Satyam Dollani</cp:lastModifiedBy>
  <cp:revision>2</cp:revision>
  <dcterms:created xsi:type="dcterms:W3CDTF">2013-01-27T09:14:16Z</dcterms:created>
  <dcterms:modified xsi:type="dcterms:W3CDTF">2026-07-30T01:24:32Z</dcterms:modified>
  <cp:category/>
</cp:coreProperties>
</file>